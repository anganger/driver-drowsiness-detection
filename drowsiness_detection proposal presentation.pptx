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251" autoAdjust="0"/>
  </p:normalViewPr>
  <p:slideViewPr>
    <p:cSldViewPr snapToGrid="0" snapToObjects="1">
      <p:cViewPr>
        <p:scale>
          <a:sx n="98" d="100"/>
          <a:sy n="98" d="100"/>
        </p:scale>
        <p:origin x="76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18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MediaPipe</a:t>
            </a:r>
            <a:r>
              <a:rPr lang="en-US" dirty="0"/>
              <a:t> Face Mesh gives us 468 facial landmarks per frame at 30+ FPS with no training required on our end. We use it purely to extract the regions of interest — the eyes and mouth.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365760" y="34747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365760" y="43891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65760" y="4846320"/>
            <a:ext cx="85953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6858000" y="914400"/>
            <a:ext cx="2011680" cy="2011680"/>
          </a:xfrm>
          <a:prstGeom prst="ellipse">
            <a:avLst/>
          </a:prstGeom>
          <a:solidFill>
            <a:srgbClr val="112240"/>
          </a:solidFill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7315200" y="1371600"/>
            <a:ext cx="1097280" cy="10972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7543800" y="160020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457200" y="822960"/>
            <a:ext cx="2560320" cy="347472"/>
          </a:xfrm>
          <a:prstGeom prst="rect">
            <a:avLst/>
          </a:prstGeom>
          <a:solidFill>
            <a:srgbClr val="0088A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LEARNING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128016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Driver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57200" y="196596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Detection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8E8F8"/>
                </a:solidFill>
              </a:rPr>
              <a:t>Using Facial Landmark Analysis &amp; Deep Learning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5943600" cy="0"/>
          </a:xfrm>
          <a:prstGeom prst="line">
            <a:avLst/>
          </a:prstGeom>
          <a:noFill/>
          <a:ln w="12700">
            <a:solidFill>
              <a:srgbClr val="0088A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A8C8"/>
                </a:solidFill>
              </a:rPr>
              <a:t>Presented by: Abdullah Naeem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A8C8"/>
                </a:solidFill>
              </a:rPr>
              <a:t>Deep Learning Course  |  Industry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1645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560320" cy="10972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D6D"/>
                </a:solidFill>
              </a:rPr>
              <a:t>20%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8"/>
                </a:solidFill>
              </a:rPr>
              <a:t>of road accidents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8"/>
                </a:solidFill>
              </a:rPr>
              <a:t>caused by drowsy driving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1645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560320" cy="10972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D6D"/>
                </a:solidFill>
              </a:rPr>
              <a:t>1 in 25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8"/>
                </a:solidFill>
              </a:rPr>
              <a:t>adult drivers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8"/>
                </a:solidFill>
              </a:rPr>
              <a:t>falling asleep while driving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1645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560320" cy="10972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126480" y="1188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D6D"/>
                </a:solidFill>
              </a:rPr>
              <a:t>6,000+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8"/>
                </a:solidFill>
              </a:rPr>
              <a:t>fatal crashes per year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8F8"/>
                </a:solidFill>
              </a:rPr>
              <a:t>linked to driver fatigue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412480" cy="146304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91440" cy="1463040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85800" y="2971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Core Problem:
</a:t>
            </a:r>
            <a:r>
              <a:rPr lang="en-US" sz="1250" dirty="0">
                <a:solidFill>
                  <a:srgbClr val="D8E8F8"/>
                </a:solidFill>
              </a:rPr>
              <a:t>Current vehicles lack intelligent systems that can detect driver fatigue in real time. Existing solutions are either too expensive, intrusive, or inaccurate. A computer vision-based approach can provide a non-contact, affordable, and highly reliable detection system using only a standard webcam.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0515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73152" cy="105156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58368" y="1124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👁  Eye State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Monitors eye aspect ratio (EAR) over time to detect prolonged closure using CNN classifiers.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10515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73152" cy="105156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58368" y="2359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😮  Yawn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Analyzes mouth landmark distances to identify yawning patterns as a key drowsiness signal.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3931920" cy="10515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73152" cy="105156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58368" y="3593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⚡  Real-Time Alerts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886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Triggers audio/visual alerts when drowsiness is confirmed over a sliding window of frames.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</a:rPr>
              <a:t>System Pipeline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74904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Webcam Input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18928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88AA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084832"/>
            <a:ext cx="374904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846320" y="208483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Face Detection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(MediaPipe)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88AA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752344"/>
            <a:ext cx="374904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846320" y="275234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Feature Extraction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(EAR / MAR)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32278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88AA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419856"/>
            <a:ext cx="374904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846320" y="341985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CNN Classifier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389534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88AA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087368"/>
            <a:ext cx="3749040" cy="47548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846320" y="40873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Drowsiness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Alert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Apps &amp;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Industry Applications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60320" cy="118872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560320" cy="914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855F7"/>
                </a:solidFill>
              </a:rPr>
              <a:t>Volvo Guardian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8F8"/>
                </a:solidFill>
              </a:rPr>
              <a:t>Built-in camera monitors driver eye movement and triggers seat vibration alerts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560320" cy="118872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560320" cy="914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24612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855F7"/>
                </a:solidFill>
              </a:rPr>
              <a:t>Mobileye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46120" y="17830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8F8"/>
                </a:solidFill>
              </a:rPr>
              <a:t>ADAS system used in 800+ car models, includes fatigue monitoring via vision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560320" cy="118872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560320" cy="914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03504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855F7"/>
                </a:solidFill>
              </a:rPr>
              <a:t>Seeing Machines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17830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8F8"/>
                </a:solidFill>
              </a:rPr>
              <a:t>AI eye-tracking hardware used in mining &amp; trucking industry fleets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Key Research Papers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8321040" cy="52120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73152" cy="5212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658368" y="30998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Soukupová &amp; Čech (2016)  —  "Real-Time Eye Blink Detection using Facial Landmarks"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333756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8"/>
                </a:solidFill>
              </a:rPr>
              <a:t>Introduced Eye Aspect Ratio (EAR) — foundational to this project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75888"/>
            <a:ext cx="8321040" cy="52120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457200" y="3675888"/>
            <a:ext cx="73152" cy="5212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58368" y="371246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Jabbar et al. (2018)  —  "Real Time Driver Drowsiness Monitoring Using Facial Features"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9502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8"/>
                </a:solidFill>
              </a:rPr>
              <a:t>Combines EAR + yawn detection with 97.4% accuracy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88536"/>
            <a:ext cx="8321040" cy="52120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6"/>
          <p:cNvSpPr/>
          <p:nvPr/>
        </p:nvSpPr>
        <p:spPr>
          <a:xfrm>
            <a:off x="457200" y="4288536"/>
            <a:ext cx="73152" cy="5212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658368" y="43251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Zhang et al. (2020)  —  "Driver Drowsiness Detection Using Deep Neural Networks"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45628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8"/>
                </a:solidFill>
              </a:rPr>
              <a:t>CNN-LSTM architecture for temporal sequence modeling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5661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109728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E5A0"/>
                </a:solidFill>
              </a:rPr>
              <a:t>Dataset 1 — MRL Eye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A8C8"/>
                </a:solidFill>
              </a:rPr>
              <a:t>For eye closure classification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801368"/>
            <a:ext cx="3749040" cy="33832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180136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</a:rPr>
              <a:t>84,898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3749040" cy="33832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640080" y="221284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Train (open eyes)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21284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</a:rPr>
              <a:t>~40,952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24328"/>
            <a:ext cx="3749040" cy="33832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40080" y="262432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Train (closed eyes)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62432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</a:rPr>
              <a:t>~39,946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3749040" cy="33832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40080" y="303580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Test 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303580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</a:rPr>
              <a:t>4,000 images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447288"/>
            <a:ext cx="3749040" cy="33832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640080" y="344728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Subjects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44728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</a:rPr>
              <a:t>37 (33M, 4F)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58768"/>
            <a:ext cx="3749040" cy="33832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40080" y="385876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Sensors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385876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</a:rPr>
              <a:t>3 different cameras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A8C8"/>
                </a:solidFill>
              </a:rPr>
              <a:t>kaggle.com › mrl-dataset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05840"/>
            <a:ext cx="3977640" cy="356616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3977640" cy="109728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8FF"/>
                </a:solidFill>
              </a:rPr>
              <a:t>Dataset 2 — YawDD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00600" y="1481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A8C8"/>
                </a:solidFill>
              </a:rPr>
              <a:t>For yawning / mouth state detection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1801368"/>
            <a:ext cx="3749040" cy="33832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4892040" y="180136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Total Videos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180136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351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212848"/>
            <a:ext cx="3749040" cy="33832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4892040" y="221284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Camera Set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221284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322 videos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2624328"/>
            <a:ext cx="3749040" cy="33832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892040" y="262432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Camera Set 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03720" y="262432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29 videos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035808"/>
            <a:ext cx="3749040" cy="33832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4892040" y="303580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Video Length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03720" y="303580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15–40 sec each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3447288"/>
            <a:ext cx="3749040" cy="33832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4892040" y="344728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Total Size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03720" y="344728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~4.9 GB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3858768"/>
            <a:ext cx="3749040" cy="33832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4892040" y="3858768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8"/>
                </a:solidFill>
              </a:rPr>
              <a:t>Classes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03720" y="385876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Normal / Talking / Yawning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4297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A8C8"/>
                </a:solidFill>
              </a:rPr>
              <a:t>ieee-dataport.org / kaggle.com › yawdd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783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109728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502920" cy="167335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FF"/>
                </a:solidFill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</a:rPr>
              <a:t>Face &amp; Landmark Extraction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15087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8"/>
                </a:solidFill>
              </a:rPr>
              <a:t>MediaPipe Face Mesh extracts 468 facial landmarks per frame in real time. Eye and mouth regions are cropped using specific landmark indices.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3977640" cy="1783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3977640" cy="109728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800600" y="1115568"/>
            <a:ext cx="502920" cy="167335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800600" y="118872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A0"/>
                </a:solidFill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4960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A0"/>
                </a:solidFill>
              </a:rPr>
              <a:t>Eye State Classification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94960" y="15087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8"/>
                </a:solidFill>
              </a:rPr>
              <a:t>MobileNetV2 / EfficientNet-B0 fine-tuned on MRL Eye Dataset (open vs. closed). Achieves 96–98% accuracy. Runs at 30+ FPS on CPU.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3977640" cy="1783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3977640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502920" cy="167335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57200" y="3182112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51560" y="31638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Yawn Detection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51560" y="350215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8"/>
                </a:solidFill>
              </a:rPr>
              <a:t>Frames from YawDD are extracted via OpenCV, mouth regions cropped, then a binary CNN classifies yawning vs. normal. ~3 hours to train.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999232"/>
            <a:ext cx="3977640" cy="17830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4800600" y="2999232"/>
            <a:ext cx="3977640" cy="10972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4800600" y="3108960"/>
            <a:ext cx="502920" cy="167335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800600" y="3182112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D6D"/>
                </a:solidFill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94960" y="31638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D"/>
                </a:solidFill>
              </a:rPr>
              <a:t>Temporal Decision Logic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94960" y="350215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8"/>
                </a:solidFill>
              </a:rPr>
              <a:t>Sliding window of 30 frames (1 sec). If eyes closed for 15+ frames OR 2+ yawns detected → drowsy flag triggered → audio alert fires.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&amp; End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6D"/>
                </a:solidFill>
              </a:rPr>
              <a:t>Technical Targets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93192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73152" cy="47548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8"/>
                </a:solidFill>
              </a:rPr>
              <a:t>🎯  Eye classifier accuracy ≥ 96% on MRL test 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93192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73152" cy="47548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8"/>
                </a:solidFill>
              </a:rPr>
              <a:t>🎯  Yawn classifier accuracy ≥ 90% on YawDD frames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393192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73152" cy="47548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40080" y="24871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8"/>
                </a:solidFill>
              </a:rPr>
              <a:t>🎯  Real-time processing at ≥ 25 FPS on laptop CPU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393192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73152" cy="475488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40080" y="30540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8"/>
                </a:solidFill>
              </a:rPr>
              <a:t>🎯  End-to-end latency under 200ms from frame to alert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</a:rPr>
              <a:t>Deliverables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353312"/>
            <a:ext cx="411480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4663440" y="1353312"/>
            <a:ext cx="73152" cy="475488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846320" y="13533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8"/>
                </a:solidFill>
              </a:rPr>
              <a:t>✅  Trained CNN models (eye + yawn classifiers)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920240"/>
            <a:ext cx="411480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4663440" y="1920240"/>
            <a:ext cx="73152" cy="475488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846320" y="1920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8"/>
                </a:solidFill>
              </a:rPr>
              <a:t>✅  Live webcam demo with real-time alert overlay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487168"/>
            <a:ext cx="411480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663440" y="2487168"/>
            <a:ext cx="73152" cy="475488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846320" y="24871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8"/>
                </a:solidFill>
              </a:rPr>
              <a:t>✅  Grad-CAM visualizations for model explainability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054096"/>
            <a:ext cx="411480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4663440" y="3054096"/>
            <a:ext cx="73152" cy="475488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846320" y="305409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8F8"/>
                </a:solidFill>
              </a:rPr>
              <a:t>✅  Full project report with performance benchmarks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8321040" cy="1097280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321040" cy="109728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640080" y="3794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🚗  End Goal: A fully functional, real-time drowsiness detection system that runs on a standard laptop — deployable as a standalone safety tool.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690</Words>
  <Application>Microsoft Office PowerPoint</Application>
  <PresentationFormat>On-screen Show (16:9)</PresentationFormat>
  <Paragraphs>116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Abdullah Naeem</cp:lastModifiedBy>
  <cp:revision>2</cp:revision>
  <dcterms:created xsi:type="dcterms:W3CDTF">2026-03-16T19:43:52Z</dcterms:created>
  <dcterms:modified xsi:type="dcterms:W3CDTF">2026-03-16T21:28:39Z</dcterms:modified>
</cp:coreProperties>
</file>